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Requirement → Code → Unit Test</a:t>
            </a:r>
          </a:p>
          <a:p/>
          <a:p>
            <a:r>
              <a:t>REQUIREMENT</a:t>
            </a:r>
          </a:p>
          <a:p>
            <a:r>
              <a:t>The ViT (Vision Transformer) model classifies garments using English labels from Fashion-MNIST — "Sneaker", "T-Shirt", "Ankle boot", etc.</a:t>
            </a:r>
          </a:p>
          <a:p>
            <a:r>
              <a:t>The rest of the system uses a Spanish categorical field called "tipo" (superior, inferior, vestido, abrigo, zapatos, bolso, desconocido).</a:t>
            </a:r>
          </a:p>
          <a:p>
            <a:r>
              <a:t>FR-07 specifies a translation layer that maps English labels to their Spanish tipo, normalises casing and underscores, and returns desconocido for anything unrecognised.</a:t>
            </a:r>
          </a:p>
          <a:p>
            <a:r>
              <a:t>Notice the acceptance criteria table already encodes the edge cases — those are the test cases.</a:t>
            </a:r>
          </a:p>
          <a:p/>
          <a:p>
            <a:r>
              <a:t>THE CODE</a:t>
            </a:r>
          </a:p>
          <a:p>
            <a:r>
              <a:t>vitClassToTipo is a pure function: no network, no database, no side effects.</a:t>
            </a:r>
          </a:p>
          <a:p>
            <a:r>
              <a:t>Three things to highlight:</a:t>
            </a:r>
          </a:p>
          <a:p>
            <a:r>
              <a:t>  1. The null/falsy guard on line 2 handles both null and empty string in one check.</a:t>
            </a:r>
          </a:p>
          <a:p>
            <a:r>
              <a:t>  2. The underscore→hyphen normalisation means the lookup table never needs duplicated underscore keys — ankle_boot maps through to ankle-boot before the lookup.</a:t>
            </a:r>
          </a:p>
          <a:p>
            <a:r>
              <a:t>  3. The fallback (map[s] || 'desconocido') is a catch-all for any future ML label not yet in the table; it can never throw or return undefined.</a:t>
            </a:r>
          </a:p>
          <a:p/>
          <a:p>
            <a:r>
              <a:t>THE UNIT TESTS</a:t>
            </a:r>
          </a:p>
          <a:p>
            <a:r>
              <a:t>Each test case traces directly to one row in the acceptance criteria table — one requirement, one assertion.</a:t>
            </a:r>
          </a:p>
          <a:p>
            <a:r>
              <a:t>The ankle_boot test specifically exercises the normalisation step; removing the replace() call would fail exactly this test.</a:t>
            </a:r>
          </a:p>
          <a:p>
            <a:r>
              <a:t>The null/empty test uses two assertions in one case because both represent the same conceptual input (no label) and the requirement treats them identically.</a:t>
            </a:r>
          </a:p>
          <a:p>
            <a:r>
              <a:t>Tests run in isolation — no setup needed — and complete in under 5 ms. Safe to run on every keystroke.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Integration Test</a:t>
            </a:r>
          </a:p>
          <a:p/>
          <a:p>
            <a:r>
              <a:t>WHAT AN INTEGRATION TEST DOES DIFFERENTLY</a:t>
            </a:r>
          </a:p>
          <a:p>
            <a:r>
              <a:t>Unit tests verify individual functions in isolation. Integration tests verify that multiple layers behave correctly together.</a:t>
            </a:r>
          </a:p>
          <a:p>
            <a:r>
              <a:t>This single test exercises: Express routing, body parsing, input validation, URL allowlisting, image conversion (sharp), the axios call, placeholder-confidence detection, and label mapping — in one end-to-end shot.</a:t>
            </a:r>
          </a:p>
          <a:p/>
          <a:p>
            <a:r>
              <a:t>TEST SETUP</a:t>
            </a:r>
          </a:p>
          <a:p>
            <a:r>
              <a:t>MongoMemoryServer spins up an in-memory MongoDB so the full Mongoose connection works without a real database.</a:t>
            </a:r>
          </a:p>
          <a:p>
            <a:r>
              <a:t>The ML service is mocked via vi.spyOn(axios, 'post') — this is the only external boundary we replace. Everything else runs for real.</a:t>
            </a:r>
          </a:p>
          <a:p>
            <a:r>
              <a:t>The env var ML_VIT_SERVICE_URL is injected in beforeEach and cleaned up in afterEach, keeping tests hermetic.</a:t>
            </a:r>
          </a:p>
          <a:p/>
          <a:p>
            <a:r>
              <a:t>WALKING THROUGH THE ASSERTIONS</a:t>
            </a:r>
          </a:p>
          <a:p>
            <a:r>
              <a:t>1. spy called once — confirms the route didn't short-circuit or return a cached response.</a:t>
            </a:r>
          </a:p>
          <a:p>
            <a:r>
              <a:t>2. URL is 'http://ml:6001/classify-vit' — proves buildMlClassifyUrl enforced the allowlist; a user-controlled path injection would produce a different URL and fail this assertion (SSRF guard).</a:t>
            </a:r>
          </a:p>
          <a:p>
            <a:r>
              <a:t>3. tipo is 'zapatos' — the mock returns tipo:'desconocido', so this proves vitClassToTipo ran on the top3 Sneaker label and the result was substituted.</a:t>
            </a:r>
          </a:p>
          <a:p>
            <a:r>
              <a:t>4. clase_nombre is 'Sneaker' — proves top3 promotion logic ran; without it, clase_nombre would be 'desconocido'.</a:t>
            </a:r>
          </a:p>
          <a:p>
            <a:r>
              <a:t>5. confianza is 0.91 — the mock sends confianza:0.5 (placeholder sentinel). This assertion proves the placeholder detection fired and promoted the real top3 confidence value.</a:t>
            </a:r>
          </a:p>
          <a:p/>
          <a:p>
            <a:r>
              <a:t>WHY THIS MATTERS</a:t>
            </a:r>
          </a:p>
          <a:p>
            <a:r>
              <a:t>Removing any one assertion would leave a regression vector unguarded. The URL assertion is the most security-critical — it's what prevents SSRF. The confianza assertion is what prevented a user experience bug where all predictions appeared as 50% confidence.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Defect Example</a:t>
            </a:r>
          </a:p>
          <a:p/>
          <a:p>
            <a:r>
              <a:t>THE DEFECT</a:t>
            </a:r>
          </a:p>
          <a:p>
            <a:r>
              <a:t>The ML service has two classification paths. The primary path always populates top3 with real predictions. The secondary path sets the top-level tipo, confianza, and clase_nombre — and when it fails, it fills those fields with the sentinel values: confianza=0.5 and clase_nombre='desconocido'.</a:t>
            </a:r>
          </a:p>
          <a:p>
            <a:r>
              <a:t>Before the fix, the backend trusted those top-level fields unconditionally, so a secondary-path failure silently degraded every result affected: the UI showed 50% confidence and "unknown" even when the primary path had a 91% confident Sneaker prediction.</a:t>
            </a:r>
          </a:p>
          <a:p>
            <a:r>
              <a:t>The value 0.5 is significant — the ML service uses it specifically as a "not computed" placeholder, not as a genuine 50% confidence.</a:t>
            </a:r>
          </a:p>
          <a:p/>
          <a:p>
            <a:r>
              <a:t>THE FIX</a:t>
            </a:r>
          </a:p>
          <a:p>
            <a:r>
              <a:t>The fix introduces the isPlaceholder boolean, which combines four conditions:</a:t>
            </a:r>
          </a:p>
          <a:p>
            <a:r>
              <a:t>  - Not a number, or out of 0–1 range (clearly invalid)</a:t>
            </a:r>
          </a:p>
          <a:p>
            <a:r>
              <a:t>  - Exactly 0.5 AND clase_nombre is also unknown (the specific sentinel pattern)</a:t>
            </a:r>
          </a:p>
          <a:p>
            <a:r>
              <a:t>When isPlaceholder is true and top3[0] has a real confidence value, that value is used for confianza. Similarly, tipo and clase_nombre are promoted from top3 when the top-level equivalents are unknown.</a:t>
            </a:r>
          </a:p>
          <a:p>
            <a:r>
              <a:t>The vitClassToTipo call on top1Name is where the Section 1 unit we built connects — it converts the promoted English label to the Spanish tipo.</a:t>
            </a:r>
          </a:p>
          <a:p/>
          <a:p>
            <a:r>
              <a:t>HOW THE TEST CAUGHT IT</a:t>
            </a:r>
          </a:p>
          <a:p>
            <a:r>
              <a:t>The mock in the integration test was written to replicate the exact sentinel payload the real ML service emits — confianza:0.5 and clase_nombre:'desconocido' alongside a high-confidence top3 entry.</a:t>
            </a:r>
          </a:p>
          <a:p>
            <a:r>
              <a:t>Before the fix, two assertions fail: tipo returns 'desconocido' instead of 'zapatos', and confianza returns 0.5 instead of 0.91. The failing assertion output is the bug report — no manual investigation required.</a:t>
            </a:r>
          </a:p>
          <a:p>
            <a:r>
              <a:t>After the fix, all three assertions pass. The test continues to live in the suite as a regression guard: if the placeholder detection logic is accidentally removed in a future refactor, these two assertions immediately fail again.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200" b="0">
                <a:solidFill>
                  <a:srgbClr val="CCCCDD"/>
                </a:solidFill>
              </a:rPr>
              <a:t>Slide 1 — </a:t>
            </a:r>
            <a:r>
              <a:rPr sz="2200" b="1">
                <a:solidFill>
                  <a:srgbClr val="A78BFA"/>
                </a:solidFill>
              </a:rPr>
              <a:t>Requirement  →  Code  →  Unit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78BFA"/>
                </a:solidFill>
              </a:rPr>
              <a:t>THE REQUIREMENT  (FR-07)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703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ViT model returns English labels (Fashion-MNIST).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App stores garments using Spanish tipo field.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Need a reliable, testable translation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3474720" cy="274320"/>
          </a:xfrm>
          <a:prstGeom prst="rect">
            <a:avLst/>
          </a:prstGeom>
          <a:solidFill>
            <a:srgbClr val="22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Input (ML label)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488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Expected tipo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3474720" cy="27432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CCCCDD"/>
                </a:solidFill>
                <a:latin typeface="Cascadia Code"/>
              </a:rPr>
              <a:t>T-Shirt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23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34D399"/>
                </a:solidFill>
                <a:latin typeface="Cascadia Code"/>
              </a:rPr>
              <a:t>superior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97480"/>
            <a:ext cx="3474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CCCCDD"/>
                </a:solidFill>
                <a:latin typeface="Cascadia Code"/>
              </a:rPr>
              <a:t>Sneaker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97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34D399"/>
                </a:solidFill>
                <a:latin typeface="Cascadia Code"/>
              </a:rPr>
              <a:t>zapatos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71800"/>
            <a:ext cx="3474720" cy="27432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CCCCDD"/>
                </a:solidFill>
                <a:latin typeface="Cascadia Code"/>
              </a:rPr>
              <a:t>ankle_boot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71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34D399"/>
                </a:solidFill>
                <a:latin typeface="Cascadia Code"/>
              </a:rPr>
              <a:t>zapatos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46120"/>
            <a:ext cx="3474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CCCCDD"/>
                </a:solidFill>
                <a:latin typeface="Cascadia Code"/>
              </a:rPr>
              <a:t>spaceship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2461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34D399"/>
                </a:solidFill>
                <a:latin typeface="Cascadia Code"/>
              </a:rPr>
              <a:t>desconocido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20440"/>
            <a:ext cx="3474720" cy="27432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CCCCDD"/>
                </a:solidFill>
                <a:latin typeface="Cascadia Code"/>
              </a:rPr>
              <a:t>" " /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204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100" b="0">
                <a:solidFill>
                  <a:srgbClr val="34D399"/>
                </a:solidFill>
                <a:latin typeface="Cascadia Code"/>
              </a:rPr>
              <a:t>desconocido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8046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</a:rPr>
              <a:t>THE CODE  (vitClassToTipo.js)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115568"/>
            <a:ext cx="3566160" cy="420624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1188720"/>
            <a:ext cx="3346704" cy="4059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function vitClassToTipo(className)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if (!className)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return 'desconocido';   // null / empty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const s = String(className)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.toLowerCase().trim()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.replace(/_/g, '-');    // ankle_boot→ankle-boot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const map =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't-shirt': 'superior',  sneaker: 'zapatos',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trouser:   'inferior',  dress:   'vestido',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coat:      'abrigo',    bag:     'bolso',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'ankle-boot': 'zapatos', // ...13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return map[s] || 'desconocido'; // fallback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804672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BBF24"/>
                </a:solidFill>
              </a:rPr>
              <a:t>THE UNIT TESTS  (vitClassToTipo.test.js)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1115568"/>
            <a:ext cx="3703320" cy="534924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188720"/>
            <a:ext cx="3483864" cy="5202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describe('vitClassToTipo',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it('maps T-Shirt to superior',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expect(vitClassToTipo('T-Shirt'))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.toBe('superior');   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it('maps Sneaker to zapatos',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expect(vitClassToTipo('Sneaker'))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.toBe('zapatos');    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it('normalises ankle_boot',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expect(vitClassToTipo('ankle_boot'))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.toBe('zapatos');    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it('returns desconocido for unknown',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expect(vitClassToTipo('spaceship'))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.toBe('desconocido');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it('handles null / empty',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expect(vitClassToTipo(''))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.toBe('desconocido');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expect(vitClassToTipo(null))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.toBe('desconocido');        // 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});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97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CCCDD"/>
                </a:solidFill>
              </a:rPr>
              <a:t>5 tests · 1:1 traceability · no I/O · runs in &lt;5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200" b="0">
                <a:solidFill>
                  <a:srgbClr val="CCCCDD"/>
                </a:solidFill>
              </a:rPr>
              <a:t>Slide 2 — </a:t>
            </a:r>
            <a:r>
              <a:rPr sz="2200" b="1">
                <a:solidFill>
                  <a:srgbClr val="34D399"/>
                </a:solidFill>
              </a:rPr>
              <a:t>Integration Test</a:t>
            </a:r>
            <a:r>
              <a:rPr sz="2200" b="0">
                <a:solidFill>
                  <a:srgbClr val="CCCCDD"/>
                </a:solidFill>
              </a:rPr>
              <a:t>   ·   POST /api/classify/vit-base64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</a:rPr>
              <a:t>LAYERS EXERCISED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Express router + body parser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validateMirrorImageUrl (SSRF guard)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buildMlClassifyUrl (URL allowlist)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sharp — base64 → temp JPEG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axios POST to ML service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Placeholder-confidence detection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vitClassToTipo label mapping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HTTP 200 response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204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</a:rPr>
              <a:t>TEST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Supertest — in-process HTTP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vi.spyOn(axios,'post') — mock ML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MongoMemoryServer — no real DB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tiny.jpg fixture — real image bytes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</a:rPr>
              <a:t>• ✓  No real ML service needed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</a:rPr>
              <a:t>• ✓  No real MongoDB needed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</a:rPr>
              <a:t>• ✓  Runs entirely in-process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804672"/>
            <a:ext cx="8001000" cy="5376672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548640"/>
            <a:ext cx="8001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000" b="1">
                <a:solidFill>
                  <a:srgbClr val="A78BFA"/>
                </a:solidFill>
                <a:latin typeface="Cascadia Code"/>
              </a:rPr>
              <a:t>classify-vit-base64-flow.test.js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877824"/>
            <a:ext cx="7781544" cy="5230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describe('POST /api/classify/vit-base64 combined flow',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beforeAll(async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mongoServer = await MongoMemoryServer.create();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await mongoose.connect(mongoServer.getUri()); // real Mongoose, fake DB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afterAll(async () =&gt; { await mongoose.disconnect(); await mongoServer.stop();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beforeEach(()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vi.restoreAllMocks();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process.env.ML_VIT_SERVICE_URL = 'http://ml:6001/'; // inject 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it('validates base64, hits safe /classify-vit, maps Sneaker→zapatos', async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const dataUrl = `data:image/jpeg;base64,${fs.readFileSync(tinyJpeg).toString('base64')}`;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const spy = vi.spyOn(axios, 'post').mockResolvedValue({ data: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tipo: 'desconocido',  confianza: 0.5,  clase_nombre: 'desconocido',  // placeholders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color: 'azul',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top3: [{ clase_nombre: 'Sneaker', confidence: 0.91, class_index: 7 }]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}});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const res = await request(app)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.post('/api/classify/vit-base64')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.send({ imageDataUrl: dataUrl })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.expect(200);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expect(spy).toHaveBeenCalledTimes(1);                          // 1. ML was called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expect(spy.mock.calls[0][0]).toBe('http://ml:6001/classify-vit'); // 2. safe URL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expect(res.body.tipo).toBe('zapatos');                         // 3. label mapped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expect(res.body.clase_nombre).toBe('Sneaker');                 // 4. top3 promoted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expect(res.body.confianza).toBe(0.91);                        // 5. real confidence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6291072"/>
            <a:ext cx="1550822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6336792"/>
            <a:ext cx="150510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CCCCDD"/>
                </a:solidFill>
              </a:rPr>
              <a:t>1. ML called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1302" y="6291072"/>
            <a:ext cx="1550822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4454" y="6336792"/>
            <a:ext cx="150510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FBBF24"/>
                </a:solidFill>
              </a:rPr>
              <a:t>2. URL allowlisted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7844" y="6291072"/>
            <a:ext cx="1550822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0996" y="6336792"/>
            <a:ext cx="150510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34D399"/>
                </a:solidFill>
              </a:rPr>
              <a:t>3. tipo mapped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4387" y="6291072"/>
            <a:ext cx="1550822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7539" y="6336792"/>
            <a:ext cx="150510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34D399"/>
                </a:solidFill>
              </a:rPr>
              <a:t>4. top3 promoted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80929" y="6291072"/>
            <a:ext cx="1550822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4081" y="6336792"/>
            <a:ext cx="150510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100">
                <a:solidFill>
                  <a:srgbClr val="34D399"/>
                </a:solidFill>
              </a:rPr>
              <a:t>5. confianza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200" b="0">
                <a:solidFill>
                  <a:srgbClr val="CCCCDD"/>
                </a:solidFill>
              </a:rPr>
              <a:t>Slide 3 — </a:t>
            </a:r>
            <a:r>
              <a:rPr sz="2200" b="1">
                <a:solidFill>
                  <a:srgbClr val="F87171"/>
                </a:solidFill>
              </a:rPr>
              <a:t>Defect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</a:rPr>
              <a:t>THE DEFECT  (DEF-01)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ML service fills top-level confianza: 0.5 and clase_nombre: 'desconocido' when its secondary classifier fails.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This happens even when top3 contains a high-confidence result (e.g. Sneaker at 91%).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Before the fix, the raw values passed through unchanged.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94560"/>
            <a:ext cx="3749039" cy="288036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267712"/>
            <a:ext cx="3529583" cy="2734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Raw ML response (before fix)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"tipo":        "desconocido",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"confianza":   0.5,         // ← sentinel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"clase_nombre":"desconocido",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"top3": [{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"clase_nombre": "Sneaker",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"confidence":   0.91      // ← ignored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}]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UI showed: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tipo:      "desconocido"  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confianza:  50%          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804672"/>
            <a:ext cx="39776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</a:rPr>
              <a:t>THE FIX  (classify.js)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15568"/>
            <a:ext cx="3977639" cy="489204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188720"/>
            <a:ext cx="3758183" cy="4745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Detect placeholder sentinel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const isPlaceholder 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typeof raw.confianza !== 'number'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|| raw.confianza &lt;=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|| raw.confianza &gt;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|| (raw.confianza === 0.5      // ← 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  &amp;&amp; isUnknown(raw.clase_nombre));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Promote top3[0] when placeholders found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const top1 = raw.top3?.[0] ?? null;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const top1Name  = top1?.clase_nombre ?? null;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const top1Conf  = top1?.confidence   ?? null;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const payload =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tipo: isUnknown(raw.tipo)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? vitClassToTipo(top1Name)  // ← infer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: raw.tipo,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clase_nombre: isUnknown(raw.clase_nombre)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? (top1Name || 'desconocido')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: raw.clase_nombre,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confianza: isPlaceholder &amp;&amp; top1Conf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? top1Conf                  // ← 0.91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    : (raw.confianza ?? 0.5),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80467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BBF24"/>
                </a:solidFill>
              </a:rPr>
              <a:t>HOW THE TEST CAUGHT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1155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CCCCDD"/>
                </a:solidFill>
              </a:rPr>
              <a:t>• Mock sends confianza: 0.5 + clase_nombre: 'desconocido' — the exact sentinel.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F87171"/>
                </a:solidFill>
              </a:rPr>
              <a:t>• Before fix: 2 assertions fail immediately.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34D399"/>
                </a:solidFill>
              </a:rPr>
              <a:t>• After fix: all 3 pass.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834640"/>
            <a:ext cx="3291840" cy="178308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2907792"/>
            <a:ext cx="3072384" cy="1636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BEFORE FIX — test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Expected: 'zapatos'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Received: 'desconocido'  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Expected: 0.91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Received: 0.5            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709160"/>
            <a:ext cx="3291840" cy="137160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4782312"/>
            <a:ext cx="3072384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// AFTER FIX — test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✓ tipo        === 'zapatos'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✓ clase_nombre=== 'Sneaker'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D2F0"/>
                </a:solidFill>
                <a:latin typeface="Cascadia Code"/>
              </a:rPr>
              <a:t>✓ confianza   === 0.91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2992374" cy="502920"/>
          </a:xfrm>
          <a:prstGeom prst="rect">
            <a:avLst/>
          </a:prstGeom>
          <a:solidFill>
            <a:srgbClr val="161428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" y="6281928"/>
            <a:ext cx="29100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100" b="1">
                <a:solidFill>
                  <a:srgbClr val="F87171"/>
                </a:solidFill>
              </a:rPr>
              <a:t>🔍 Discovered  </a:t>
            </a:r>
            <a:r>
              <a:rPr sz="1000">
                <a:solidFill>
                  <a:srgbClr val="CCCCDD"/>
                </a:solidFill>
              </a:rPr>
              <a:t>Integration test assertions fail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7238" y="6263640"/>
            <a:ext cx="2992374" cy="502920"/>
          </a:xfrm>
          <a:prstGeom prst="rect">
            <a:avLst/>
          </a:prstGeom>
          <a:solidFill>
            <a:srgbClr val="161428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38678" y="6281928"/>
            <a:ext cx="29100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100" b="1">
                <a:solidFill>
                  <a:srgbClr val="FBBF24"/>
                </a:solidFill>
              </a:rPr>
              <a:t>📋 Root cause  </a:t>
            </a:r>
            <a:r>
              <a:rPr sz="1000">
                <a:solidFill>
                  <a:srgbClr val="CCCCDD"/>
                </a:solidFill>
              </a:rPr>
              <a:t>ML sentinel passed through undetected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4476" y="6263640"/>
            <a:ext cx="2992374" cy="502920"/>
          </a:xfrm>
          <a:prstGeom prst="rect">
            <a:avLst/>
          </a:prstGeom>
          <a:solidFill>
            <a:srgbClr val="161428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6281928"/>
            <a:ext cx="29100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100" b="1">
                <a:solidFill>
                  <a:srgbClr val="34D399"/>
                </a:solidFill>
              </a:rPr>
              <a:t>🔧 Fixed  </a:t>
            </a:r>
            <a:r>
              <a:rPr sz="1000">
                <a:solidFill>
                  <a:srgbClr val="CCCCDD"/>
                </a:solidFill>
              </a:rPr>
              <a:t>isPlaceholder flag + top3 promotion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1714" y="6263640"/>
            <a:ext cx="2992374" cy="502920"/>
          </a:xfrm>
          <a:prstGeom prst="rect">
            <a:avLst/>
          </a:prstGeom>
          <a:solidFill>
            <a:srgbClr val="161428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3154" y="6281928"/>
            <a:ext cx="29100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100" b="1">
                <a:solidFill>
                  <a:srgbClr val="34D399"/>
                </a:solidFill>
              </a:rPr>
              <a:t>✅ Verified  </a:t>
            </a:r>
            <a:r>
              <a:rPr sz="1000">
                <a:solidFill>
                  <a:srgbClr val="CCCCDD"/>
                </a:solidFill>
              </a:rPr>
              <a:t>Same test now passes — regression locked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