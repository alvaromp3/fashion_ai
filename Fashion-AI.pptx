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9"/>
    <p:sldId id="269" r:id="rId8"/>
    <p:sldId id="270" r:id="rId7"/>
    <p:sldId id="271" r:id="rId6"/>
    <p:sldId id="272" r:id="rId5"/>
    <p:sldId id="273" r:id="rId4"/>
    <p:sldId id="274" r:id="rId3"/>
    <p:sldId id="275" r:id="rId2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notesMasterIdLst>
    <p:notesMasterId r:id="rId22"/>
  </p:notesMasterIdLst>
  <p:sldSz cx="14630400" cy="8229600"/>
  <p:notesSz cx="8229600" cy="14630400"/>
  <p:embeddedFontLst>
    <p:embeddedFont>
      <p:font typeface="Noto Serif Medium"/>
      <p:regular r:id="rId27"/>
    </p:embeddedFont>
    <p:embeddedFont>
      <p:font typeface="Noto Serif"/>
      <p:regular r:id="rId28"/>
    </p:embeddedFont>
    <p:embeddedFont>
      <p:font typeface="Noto Serif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9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20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21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Fashion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A5A5A"/>
                </a:solidFill>
                <a:latin typeface="Calibri"/>
              </a:defRPr>
            </a:pPr>
            <a:r>
              <a:t>Final Project: Software Engineering &amp; Quality Management (20-minute expanded presentation)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141414"/>
                </a:solidFill>
                <a:latin typeface="Calibri"/>
              </a:defRPr>
            </a:pPr>
            <a:r>
              <a:t>Project focus: software process quality with a working multi-service prototype.</a:t>
            </a:r>
          </a:p>
          <a:p>
            <a:pPr>
              <a:spcAft>
                <a:spcPts val="700"/>
              </a:spcAft>
              <a:defRPr sz="2400" b="0">
                <a:solidFill>
                  <a:srgbClr val="141414"/>
                </a:solidFill>
                <a:latin typeface="Calibri"/>
              </a:defRPr>
            </a:pPr>
            <a:r>
              <a:t>Stack: React frontend, Express backend, Python ML service (ViT), MongoDB.</a:t>
            </a:r>
          </a:p>
          <a:p>
            <a:pPr>
              <a:spcAft>
                <a:spcPts val="700"/>
              </a:spcAft>
              <a:defRPr sz="2400" b="0">
                <a:solidFill>
                  <a:srgbClr val="141414"/>
                </a:solidFill>
                <a:latin typeface="Calibri"/>
              </a:defRPr>
            </a:pPr>
            <a:r>
              <a:t>Goal for this version: exceed rubric coverage with deeper evidence and more examples.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Presentation Plan (20 Minutes)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783080"/>
          <a:ext cx="115214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7391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How We Exceed Minimum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Problem + approach +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9 functional requirements (not just 3) + measurable NFRs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Design + prototype walkthrough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2 implementation slices tied to requirements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Testing walkthroughs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2 requirement-&gt;code-&gt;unit examples + 3 integration examples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Quality + DevOps + defects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Real lint/test execution evidence + 6 defect examples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Traceability + reflection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Expanded matrix across backend/frontend/ML/E2E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1)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Users struggle to keep a digital wardrobe clean and searchable as photo volume grows.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Manual labeling is inconsistent, creating broken filters, duplicate categories, and low trust.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AI outputs without software quality controls are risky: incorrect labels propagate through recommendations.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The engineering problem is not only prediction accuracy; it is reliable end-to-end system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Users and 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Primary users: wardrobe owners who upload garments and expect consistent metadata.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Secondary users: stylists and frequent shoppers who rely on category/search precision.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Operators: maintainers responsible for API uptime, secure uploads, and ML availability.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Business impact: better metadata quality improves recommendation relevance and reduces user friction.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Proposed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Frontend captures image + context, backend validates and orchestrates, ML service classifies, MongoDB persists.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Safety controls: path validation, outbound URL allowlists, and mirror image URL validation.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Reliability controls: health endpoints, graceful ML degradation, and integration tests per API boundary.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Quality controls: unit + integration + E2E tests plus CI gates before release.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2) Development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Method: Agile with short iterations and requirement-first implementation planning.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Definition of Done: requirement mapping updated, tests written/updated, lint reviewed, CI passing.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Risk-first sequencing: validate security and boundary behavior before adding feature depth.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Process output: every major requirement has at least one explicit automated verification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Team Structure, Roles, and Workflow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737360"/>
          <a:ext cx="115214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746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Quality Artifact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Product/Requirements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Define user stories and acceptance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Traceable FR/NFR list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API, validation, persistence, integration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Vitest unit/integration tests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ML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Model serving and labels taxonomy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Pytest unit/integration tests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Frontend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UI behavior and user 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Vitest UI utility tests + Playwright smoke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QA/DevOps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Pipeline reliability and release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CI workflow + defect lifecycle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3) Functional Requirements (Expanded: 9 Testable FRs)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627632"/>
          <a:ext cx="115214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Resolve /uploads paths only under uploads root; reject traversal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POST /api/classify returns 400 JSON error when image is missing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Map ViT label names to canonical tipo values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ML classify URL must use allowlisted endpoints only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Mirror image URL accepts only safe data URL or non-private https host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GET /api/health returns mongodb state + overall 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First paint shows app shell or explicit Auth0 setup message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POST /api/prendas/auto enforces PRENDAS_MAX_PER_USER limit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GET /api/ml-health returns 503 + hint when ML is unreachable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3) Non-Functional Requirements (Measured)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737360"/>
          <a:ext cx="115214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6335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/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NFR-S1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Security hardening at path/URL boundaries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safePath/safeOutbound/safeMirror tests</a:t>
                      </a:r>
                    </a:p>
                  </a:txBody>
                  <a:tcPr/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NFR-R1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Graceful degradation when ML is unavailable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IT-A3 /api/ml-health 503 path</a:t>
                      </a:r>
                    </a:p>
                  </a:txBody>
                  <a:tcPr/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NFR-R2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Health observability for backend +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/api/health and /api/ml-health endpoints</a:t>
                      </a:r>
                    </a:p>
                  </a:txBody>
                  <a:tcPr/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NFR-M1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Maintainability via pure utility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40 backend unit tests around utils</a:t>
                      </a:r>
                    </a:p>
                  </a:txBody>
                  <a:tcPr/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NFR-Q1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Automated verification before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CI jobs: backend, frontend, ml, e2e</a:t>
                      </a:r>
                    </a:p>
                  </a:txBody>
                  <a:tcPr/>
                </a:tc>
              </a:tr>
              <a:tr h="6335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NFR-P1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Request timeout bounds on external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axios timeout enforcement in classify/mirror routes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4) System Design: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194560" cy="822960"/>
          </a:xfrm>
          <a:prstGeom prst="roundRect">
            <a:avLst/>
          </a:prstGeom>
          <a:solidFill>
            <a:srgbClr val="F0F7FC"/>
          </a:solidFill>
          <a:ln>
            <a:solidFill>
              <a:srgbClr val="AAC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  <a:latin typeface="Calibri"/>
              </a:defRPr>
            </a:pPr>
            <a:r>
              <a:t>React 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554480"/>
            <a:ext cx="2194560" cy="822960"/>
          </a:xfrm>
          <a:prstGeom prst="roundRect">
            <a:avLst/>
          </a:prstGeom>
          <a:solidFill>
            <a:srgbClr val="F0F7FC"/>
          </a:solidFill>
          <a:ln>
            <a:solidFill>
              <a:srgbClr val="AAC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  <a:latin typeface="Calibri"/>
              </a:defRPr>
            </a:pPr>
            <a:r>
              <a:t>Express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54480"/>
            <a:ext cx="2194560" cy="822960"/>
          </a:xfrm>
          <a:prstGeom prst="roundRect">
            <a:avLst/>
          </a:prstGeom>
          <a:solidFill>
            <a:srgbClr val="F0F7FC"/>
          </a:solidFill>
          <a:ln>
            <a:solidFill>
              <a:srgbClr val="AAC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  <a:latin typeface="Calibri"/>
              </a:defRPr>
            </a:pPr>
            <a:r>
              <a:t>ML Service (Flask + ViT)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554480"/>
            <a:ext cx="2194560" cy="822960"/>
          </a:xfrm>
          <a:prstGeom prst="roundRect">
            <a:avLst/>
          </a:prstGeom>
          <a:solidFill>
            <a:srgbClr val="F0F7FC"/>
          </a:solidFill>
          <a:ln>
            <a:solidFill>
              <a:srgbClr val="AAC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4"/>
                </a:solidFill>
                <a:latin typeface="Calibri"/>
              </a:defRPr>
            </a:pPr>
            <a:r>
              <a:t>MongoDB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28800"/>
            <a:ext cx="457200" cy="320040"/>
          </a:xfrm>
          <a:prstGeom prst="rightArrow">
            <a:avLst/>
          </a:prstGeom>
          <a:solidFill>
            <a:srgbClr val="508CAA"/>
          </a:solidFill>
          <a:ln>
            <a:solidFill>
              <a:srgbClr val="50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440679" y="1828800"/>
            <a:ext cx="457200" cy="320040"/>
          </a:xfrm>
          <a:prstGeom prst="rightArrow">
            <a:avLst/>
          </a:prstGeom>
          <a:solidFill>
            <a:srgbClr val="508CAA"/>
          </a:solidFill>
          <a:ln>
            <a:solidFill>
              <a:srgbClr val="50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092440" y="1828800"/>
            <a:ext cx="457200" cy="320040"/>
          </a:xfrm>
          <a:prstGeom prst="rightArrow">
            <a:avLst/>
          </a:prstGeom>
          <a:solidFill>
            <a:srgbClr val="508CAA"/>
          </a:solidFill>
          <a:ln>
            <a:solidFill>
              <a:srgbClr val="50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Frontend handles UX and API calls; backend owns validation, auth gates, and orchestration.</a:t>
            </a:r>
          </a:p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ML service provides classification; MongoDB stores wardrobe and outfit entities.</a:t>
            </a:r>
          </a:p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Design principle: each boundary has dedicated tests so failures are isolated and diagnosable.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4) Component Interaction Sequence (Classify 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1. User uploads image from frontend -&gt; POST /api/classify multipart request.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2. Backend validates file type/size and optional HEIC conversion in classify route.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3. Backend builds safe ML URL and sends form-data to ML endpoint via axios.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4. Backend normalizes tipo/class output and returns canonical JSON payload.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5. Client consumes normalized result for wardrobe workflows and persistence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7899"/>
                </a:solidFill>
                <a:latin typeface="Calibri"/>
              </a:defRPr>
            </a:pPr>
            <a:r>
              <a:t>Primary implementation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840480"/>
            <a:ext cx="109728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E1E1E"/>
                </a:solidFill>
                <a:latin typeface="Consolas"/>
              </a:defRPr>
            </a:pPr>
            <a:r>
              <a:t>backend/routes/classify.js</a:t>
            </a:r>
            <a:br/>
            <a:r>
              <a:t>  - processAndClassify(req, res, endpoint)</a:t>
            </a:r>
            <a:br/>
            <a:r>
              <a:t>  - buildMlClassifyUrl(...) allowlist</a:t>
            </a:r>
            <a:br/>
            <a:r>
              <a:t>  - vitClassToTipo(...) normalization</a:t>
            </a:r>
            <a:br/>
            <a:r>
              <a:t>  - graceful fallback on ML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5) Prototype Implementation: Slice A (Classification Pipeline)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Implements FR-2, FR-3, FR-4, and FR-9 in one production route.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Includes input validation, endpoint allowlisting, mapping normalization, and degraded responses.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Demonstrates real processing logic rather than placeholder mock behavior.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Connected tests: classify.test.js, safeOutboundUrl.test.js, vitClassToTipo.test.js, ml-health.test.js.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5) Prototype Implementation: Slice B (Mirror Safety + Analysis)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Mirror endpoint validates incoming imageDataUrl before remote analysis calls.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Accepts safe data URLs and non-private https targets; rejects loopback/private hosts.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Protects against SSRF-style misuse while preserving user feature functionality.</a:t>
            </a:r>
          </a:p>
          <a:p>
            <a:pPr>
              <a:spcAft>
                <a:spcPts val="700"/>
              </a:spcAft>
              <a:defRPr sz="2000" b="0">
                <a:solidFill>
                  <a:srgbClr val="141414"/>
                </a:solidFill>
                <a:latin typeface="Calibri"/>
              </a:defRPr>
            </a:pPr>
            <a:r>
              <a:t>Connected tests: safeMirrorImageUrl.test.js + route-level checks in mirror/classify handlers.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6) Unit Testing: Strategy and Execution Evidence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783080"/>
          <a:ext cx="115214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7391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Tooling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Result from Local Run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 utils/routes (unit)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Vitest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40 unit tests passed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 integration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Vitest + Supertest + mongodb-memory-server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7 integration tests passed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Frontend utility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Vitest + jsdom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14 tests passed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ML service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pytest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10 tests passed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Total automated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71 tests passed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Walkthrough 1: FR-3 Requirement -&gt; Code -&gt; Unit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Requirement: map ViT class labels to canonical tipo values used by wardrobe logic.</a:t>
            </a:r>
          </a:p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Code module: backend/utils/vitClassToTipo.js.</a:t>
            </a:r>
          </a:p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Verification: backend/test/unit/vitClassToTipo.test.js (5 tests including unknown fallback).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39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7899"/>
                </a:solidFill>
                <a:latin typeface="Calibri"/>
              </a:defRPr>
            </a:pPr>
            <a:r>
              <a:t>Test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10972800" cy="256032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E1E1E"/>
                </a:solidFill>
                <a:latin typeface="Consolas"/>
              </a:defRPr>
            </a:pPr>
            <a:r>
              <a:t>expect(vitClassToTipo('T-Shirt')).toBe('superior')</a:t>
            </a:r>
            <a:br/>
            <a:r>
              <a:t>expect(vitClassToTipo('Sneaker')).toBe('zapatos')</a:t>
            </a:r>
            <a:br/>
            <a:r>
              <a:t>expect(vitClassToTipo('ankle_boot')).toBe('zapatos')</a:t>
            </a:r>
            <a:br/>
            <a:r>
              <a:t>expect(vitClassToTipo('spaceship')).toBe('desconocido')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Walkthrough 2: FR-1 Requirement -&gt; Code -&gt; Unit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Requirement: prevent path traversal in public upload URL resolution.</a:t>
            </a:r>
          </a:p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Code module: backend/utils/safePath.js resolveUnder + resolveUploadsPublicPath.</a:t>
            </a:r>
          </a:p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Verification: backend/test/unit/safePath.test.js (7 tests for safe and unsafe paths).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39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7899"/>
                </a:solidFill>
                <a:latin typeface="Calibri"/>
              </a:defRPr>
            </a:pPr>
            <a:r>
              <a:t>Test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10972800" cy="256032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E1E1E"/>
                </a:solidFill>
                <a:latin typeface="Consolas"/>
              </a:defRPr>
            </a:pPr>
            <a:r>
              <a:t>expect(() =&gt; resolveUnder(base, '..', 'outside')).toThrow(/escapes/)</a:t>
            </a:r>
            <a:br/>
            <a:r>
              <a:t>expect(resolveUploadsPublicPath('/uploads/../etc/passwd', root)).toBeNull()</a:t>
            </a:r>
            <a:br/>
            <a:r>
              <a:t>expect(resolveUploadsPublicPath('/uploads/user1/photo.jpg', root))</a:t>
            </a:r>
            <a:br/>
            <a:r>
              <a:t>  .toBe(path.join(root, 'user1', 'photo.jpg'))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7) Integration Testing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IT-A1: /api/health verifies API + MongoDB connectivity reporting.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IT-A2: /api/classify verifies route + ML adapter + mapping behavior.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IT-A3: /api/ml-health verifies success and degraded paths.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IT-A4: /api/me verifies anonymous fallback behavior when Auth0 is disabled.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IT-A5: /api/prendas/auto verifies per-user limit enforcement.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IT-B1: ML Flask health/root endpoints verified with stubbed model object.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Integration Example A: IT-A2 POST /api/classify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783080"/>
          <a:ext cx="115214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7391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Multipart request with fixture image backend/test/fixtures/tiny.jpg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Mocking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axios.post mocked to simulate ML response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Expected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200 on valid image, 400 when image missing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Expected 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tipo normalized to zapatos from top3 Sneaker class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backend/test/integration/classify.test.js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Integration Example B: IT-A3 + IT-A5 Reliability Controls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828800"/>
          <a:ext cx="11521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10515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Assertion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IT-A3 /api/ml-health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API route + axios + env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200 when ML reachable, 503 + error/hint when unreachable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IT-A5 /api/prendas/auto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API route + DB + env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Second upload returns 429 and exposes configured limit value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backend/test/integration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ml-health.test.js and prendas-limit.test.js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Integration Example C: ML Service + E2E Smoke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IT-B1 (ml-service/tests/test_flask_integration.py): Flask /health returns OK and exposes vit_model_loaded.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E2E-1 (e2e/smoke.spec.js): first paint shows .app-shell or Auth0-not-configured heading.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E2E-2 (e2e/smoke.spec.js): backend /api/health returns JSON with mongodb and status keys.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Result: we validate both service-level contracts and user-visible cross-service behavior.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8) Code Quality &amp; Analysis (Real Lint/Test Evidence)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Backend ESLint run: 2 warnings, 0 errors (outfits.js unused variable; cloudinary.js unused fs).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Frontend ESLint run: 0 warnings, 0 errors.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Automated tests executed: backend 47 + frontend 14 + ML 10 = 71 passed.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Quality interpretation: low lint debt, strong automated verification coverage, targeted refactor opportunities.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7899"/>
                </a:solidFill>
                <a:latin typeface="Calibri"/>
              </a:defRPr>
            </a:pPr>
            <a:r>
              <a:t>Backend lint findings (summary)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109728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1E1E1E"/>
                </a:solidFill>
                <a:latin typeface="Consolas"/>
              </a:defRPr>
            </a:pPr>
            <a:r>
              <a:t>backend/routes/outfits.js:157 warning no-unused-vars (vestidos)</a:t>
            </a:r>
            <a:br/>
            <a:r>
              <a:t>backend/utils/cloudinary.js:2 warning no-unused-vars (fs)</a:t>
            </a:r>
            <a:br/>
            <a:r>
              <a:t>frontend lint: no findings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8) Complexity Discussion and Maintainability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Hotspot: processAndClassify in backend/routes/classify.js has multiple responsibilities.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Current responsibilities: upload validation, HEIC conversion, ML call, fallback shaping, cleanup.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Refactor path: split into preprocessor, ML adapter, response normalizer, and cleanup helper.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Risk mitigation now: strong unit tests on pure helpers + integration tests around route contracts.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9) DevOps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783080"/>
          <a:ext cx="115214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7391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Implementation in This Project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Source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main + short-lived feature branches + PR review gates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CI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.github/workflows/ci.yml: backend, frontend, ml, e2e jobs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Test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Unit + integration per service, smoke E2E across stack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Build/release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Frontend build verification + service-specific deploy docs/scripts</a:t>
                      </a:r>
                    </a:p>
                  </a:txBody>
                  <a:tcPr/>
                </a:tc>
              </a:tr>
              <a:tr h="739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Release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Single CI aggregate job fails if any required job fails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10) Defect Management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Lifecycle used: New -&gt; Triaged -&gt; In Progress -&gt; Fixed -&gt; Verified -&gt; Closed.</a:t>
            </a:r>
          </a:p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Verification policy: no defect closes without mapped test evidence (unit/integration/E2E).</a:t>
            </a:r>
          </a:p>
          <a:p>
            <a:pPr>
              <a:spcAft>
                <a:spcPts val="700"/>
              </a:spcAft>
              <a:defRPr sz="1900" b="0">
                <a:solidFill>
                  <a:srgbClr val="141414"/>
                </a:solidFill>
                <a:latin typeface="Calibri"/>
              </a:defRPr>
            </a:pPr>
            <a:r>
              <a:t>Defect taxonomy used in this project: Functional, Integration, Data/Validation.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10) Defect Examples (Functional + Integration)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691640"/>
          <a:ext cx="115214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Verification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Unknown label not mapped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Missing synonym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Extend vitClassToTipo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vitClassToTipo.test.js + IT-A2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No-image classify request gives wrong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Missing early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Return explicit 400 JSON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classify.test.js no-image case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ML health always 503 in staging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Sleeping/misconfigured ML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Use /health + hosted wake hint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ml-health.test.js success/failure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User can exceed prendas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Limit policy not enforced in route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Apply PRENDAS_MAX_PER_USER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prendas-limit.test.js 429 assertion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10) Defect Examples (Data/Validation)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78308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1097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Verification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Data/Validation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Path traversal via /uploads/../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Insufficient path 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resolveUploadsPublicPath rejects . and ..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safePath.test.js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Data/Validation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SSRF risk with private https host in Mirror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Image URL accepted without host safety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validateMirrorImageUrl blocks loopback/private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safeMirrorImageUrl.test.js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Data/Validation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Disallowed ML endpoint path 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No outbound URL allowlist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buildMlClassifyUrl allowlisted endpoints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safeOutboundUrl.test.js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11) Traceability Matrix (Expanded)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554480"/>
          <a:ext cx="115214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Req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Unit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Integration/E2E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backend/utils/safePath.js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backend/test/unit/safePath.test.js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N/A (utility-level guard)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backend/routes/classify.js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backend/test/integration/classify.test.js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backend/utils/vitClassToTipo.js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vitClassToTipo.test.js + ml-service/tests/test_labels.py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classify.test.js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backend/utils/safeOutboundUrl.js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backend/test/unit/safeOutboundUrl.test.js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backend/test/integration/classify.test.js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backend/utils/safeMirrorImageUrl.js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backend/test/unit/safeMirrorImageUrl.test.js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mirror/classify route input validation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backend/app.js /api/health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health.test.js + E2E-2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frontend/src/App.jsx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frontend/src/lib/*.test.js (supporting)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e2e/smoke.spec.js E2E-1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backend/routes/prendas.js + limits middleware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prendas-limit.test.js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FR-9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backend/app.js /api/ml-health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Calibri"/>
                        </a:defRPr>
                      </a:pPr>
                      <a:r>
                        <a:t>ml-health.test.js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95C"/>
                </a:solidFill>
                <a:latin typeface="Calibri"/>
              </a:defRPr>
            </a:pPr>
            <a:r>
              <a:t>12) Reflection, Tradeoffs, and Next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Tradeoff: mocked ML boundaries keep tests fast but can miss live contract drift.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Mitigation: keep integration mocks + add scheduled staging contract tests.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Improvement path: decompose classify route and drive lint warnings to zero on touched files.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Key learning: requirement -&gt; code -&gt; test traceability makes quality decisions auditable.</a:t>
            </a:r>
          </a:p>
          <a:p>
            <a:pPr>
              <a:spcAft>
                <a:spcPts val="700"/>
              </a:spcAft>
              <a:defRPr sz="1800" b="0">
                <a:solidFill>
                  <a:srgbClr val="141414"/>
                </a:solidFill>
                <a:latin typeface="Calibri"/>
              </a:defRPr>
            </a:pPr>
            <a:r>
              <a:t>Close: this expanded deck exceeds rubric minimum with deeper examples across all sections.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2026-04-17T01:34:12Z</dcterms:created>
  <dcterms:modified xsi:type="dcterms:W3CDTF">2026-04-17T01:34:12Z</dcterms:modified>
</cp:coreProperties>
</file>